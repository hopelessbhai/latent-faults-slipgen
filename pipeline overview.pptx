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17D72-DA16-E516-88A0-CE5224FE4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C0D250-4C02-B51E-71A1-D0037859B2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30EDB-814C-BA5A-99EA-289720499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B1865-40A0-433F-9753-6EB1B79D5E05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28ED4-A439-EB4D-7259-9F3CFA94B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371FD-09B2-9B31-E103-CE289E97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B2F2-F498-4694-81B2-0062AACA3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553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2130E-7E00-25A8-315F-A5B35443B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F3519-8D83-71E6-6CC7-BBD20F6BB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A1DC6-F8C6-10A8-1274-8B3AFC7CA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B1865-40A0-433F-9753-6EB1B79D5E05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2466B-DC5F-92A6-AD0D-AAE6F34F2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3BD5-DE6B-86D3-13EE-D8E6A52E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B2F2-F498-4694-81B2-0062AACA3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840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0416B-60DB-D3F8-D152-6EFC4CD0F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5D7AC7-E013-17D1-B3C4-81F283353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5D029-0DF7-D59C-336D-2C429341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B1865-40A0-433F-9753-6EB1B79D5E05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FBA60-CE2C-E6B9-F33F-66FEA50DC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DC40C-1064-E967-C5A2-91F0DD4C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B2F2-F498-4694-81B2-0062AACA3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187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17B60-3C9C-A39B-5DB6-5124D320A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C244E-42C7-0F53-2435-C5C11A668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0E8D3D-29BC-B411-8657-54232DB40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CB5790-B822-359C-64BD-5911D959F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B1865-40A0-433F-9753-6EB1B79D5E05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B1A20-7DB0-D4C7-8621-088AA5EE1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14367-876D-7596-F03D-893823C8C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B2F2-F498-4694-81B2-0062AACA3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88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BAE36-54EB-D55D-687B-7DBB1571E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1133B-A729-4BDD-0423-15ECCADFA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4365A-4FD0-BFC0-F291-B5D8262C5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C5C72C-61C9-1E7A-3BAB-EABC6A37D2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B0A84D-D4CA-6EBB-1F71-6FA2841B9B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19C740-EA6D-06E5-44A8-B0117A2D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B1865-40A0-433F-9753-6EB1B79D5E05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998319-F690-F7FA-412A-8068EA5C2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C47705-8FE8-7666-A8CF-383BB442B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B2F2-F498-4694-81B2-0062AACA3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203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6C77E-95C2-EEB6-6A35-442FFB886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E942F1-7F61-E300-9ECA-2713E62D7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B1865-40A0-433F-9753-6EB1B79D5E05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2CBD58-D881-BD8A-8450-F41B02BC5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9C4EA7-A4A8-97BA-B498-19048924F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B2F2-F498-4694-81B2-0062AACA3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8103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EDDA53-F91A-D567-1F2A-BFFDB0AB7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B1865-40A0-433F-9753-6EB1B79D5E05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57B68F-4BB2-AAFB-9A3D-784C51CB2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8E668D-9416-663D-2E46-0D6F69384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B2F2-F498-4694-81B2-0062AACA3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379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600CB-1ACA-AF9F-1E4F-4CAA0C595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CB7C0-FDD6-2EE8-B4B3-C06729D00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3B2F10-A49A-C739-BDA0-917B32C38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12D10-9807-EE65-ECD6-0E5E51AAC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B1865-40A0-433F-9753-6EB1B79D5E05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0286E-35A3-71E6-6931-DF8CDC7FD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94FF9-DB05-8DB3-4FBA-6A8A1894B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B2F2-F498-4694-81B2-0062AACA3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070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9425F-43AA-5CE6-B5A7-B8608942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ACF345-5696-9AD4-860D-702DC70BD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C8EA2E-313C-05DA-98C5-565E1F0F4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93AA7-1A4E-2FA5-FDE1-8CC25F6C3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B1865-40A0-433F-9753-6EB1B79D5E05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06398-6289-6A4D-33E4-91C89D088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AC85E-C14C-6B7C-9D2A-04C9DB33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B2F2-F498-4694-81B2-0062AACA3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033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FED2E-B895-EB34-3409-8659B0FD1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5D28E1-D09B-0DD4-F201-119ECF00D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BAA88-2AC2-9437-72E9-8DD3A5EE2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B1865-40A0-433F-9753-6EB1B79D5E05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9A535-F9FD-25F0-0C98-9CA25D9FE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90DAE-DF4F-A38B-2C28-BCF42619C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B2F2-F498-4694-81B2-0062AACA3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311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922AC5-0A2F-3EAC-E13C-4B7197010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B4F90-D92A-8A3F-6CF3-5FBC71793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E571-29CD-3AC7-DB9B-611224E2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B1865-40A0-433F-9753-6EB1B79D5E05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80C1C-60E8-E493-0C95-E876229B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EAEFB-1E4B-A635-22F6-743A0DC3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CB2F2-F498-4694-81B2-0062AACA3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983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81C6D7-7A25-2E87-5AE2-794AAEDD1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87214-A3DA-FCE4-18E7-63256343E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4BAEC-0041-7E28-2F5C-DC7312CCA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4B1865-40A0-433F-9753-6EB1B79D5E05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5E0B8-2D82-F23E-105D-B8711DD596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654D0-F026-363C-A48A-D4F6074EA6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CB2F2-F498-4694-81B2-0062AACA36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590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C6F0-B64E-AB18-D587-001D329183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Slip Plane Modelling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3A840B-BEC4-F343-87D7-61865D03CD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Full Overview of the pipeline and results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3373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06D99F-ECA3-D029-5F40-EA3547B155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115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B4AEA-A564-A75B-B665-79E833B0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D28DA8-ADB9-1EFD-2E8B-37E31AA66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277" y="343362"/>
            <a:ext cx="11169445" cy="617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918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E6BED-72DE-43B9-16F2-41E249454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9FE8F6-925C-0F52-13A9-429F293DFD04}"/>
              </a:ext>
            </a:extLst>
          </p:cNvPr>
          <p:cNvSpPr/>
          <p:nvPr/>
        </p:nvSpPr>
        <p:spPr>
          <a:xfrm>
            <a:off x="717755" y="422787"/>
            <a:ext cx="10864645" cy="5624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305360-3542-59C8-0DF2-10BC1D98351E}"/>
              </a:ext>
            </a:extLst>
          </p:cNvPr>
          <p:cNvSpPr txBox="1"/>
          <p:nvPr/>
        </p:nvSpPr>
        <p:spPr>
          <a:xfrm>
            <a:off x="609600" y="1249654"/>
            <a:ext cx="340196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Central Idea – </a:t>
            </a:r>
          </a:p>
          <a:p>
            <a:endParaRPr lang="en-IN" dirty="0"/>
          </a:p>
          <a:p>
            <a:r>
              <a:rPr lang="en-IN" dirty="0"/>
              <a:t>Using </a:t>
            </a:r>
            <a:r>
              <a:rPr lang="en-IN" b="1" dirty="0"/>
              <a:t>35</a:t>
            </a:r>
            <a:r>
              <a:rPr lang="en-IN" dirty="0"/>
              <a:t> input parameters – </a:t>
            </a:r>
          </a:p>
          <a:p>
            <a:pPr marL="342900" indent="-342900">
              <a:buAutoNum type="arabicPeriod"/>
            </a:pPr>
            <a:r>
              <a:rPr lang="en-IN" dirty="0"/>
              <a:t>Magnitude of the earthquake</a:t>
            </a:r>
          </a:p>
          <a:p>
            <a:pPr marL="342900" indent="-342900">
              <a:buAutoNum type="arabicPeriod"/>
            </a:pPr>
            <a:r>
              <a:rPr lang="en-IN" dirty="0"/>
              <a:t>Lat and Long of the </a:t>
            </a:r>
            <a:r>
              <a:rPr lang="en-IN" dirty="0" err="1"/>
              <a:t>epicenter</a:t>
            </a: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Fault Dip, Rake and Strike</a:t>
            </a:r>
          </a:p>
          <a:p>
            <a:pPr marL="342900" indent="-342900">
              <a:buAutoNum type="arabicPeriod"/>
            </a:pPr>
            <a:r>
              <a:rPr lang="en-IN" dirty="0"/>
              <a:t>Depth to the </a:t>
            </a:r>
            <a:r>
              <a:rPr lang="en-IN" dirty="0" err="1"/>
              <a:t>hypocenter</a:t>
            </a:r>
            <a:r>
              <a:rPr lang="en-IN" dirty="0"/>
              <a:t>.</a:t>
            </a:r>
          </a:p>
          <a:p>
            <a:pPr marL="342900" indent="-342900">
              <a:buAutoNum type="arabicPeriod"/>
            </a:pPr>
            <a:r>
              <a:rPr lang="en-IN" dirty="0" err="1"/>
              <a:t>Seismogenic</a:t>
            </a:r>
            <a:r>
              <a:rPr lang="en-IN" dirty="0"/>
              <a:t> width</a:t>
            </a:r>
          </a:p>
          <a:p>
            <a:pPr marL="342900" indent="-342900">
              <a:buAutoNum type="arabicPeriod"/>
            </a:pPr>
            <a:r>
              <a:rPr lang="en-IN" dirty="0"/>
              <a:t>Rupture Area</a:t>
            </a:r>
          </a:p>
          <a:p>
            <a:pPr marL="342900" indent="-342900">
              <a:buAutoNum type="arabicPeriod"/>
            </a:pPr>
            <a:r>
              <a:rPr lang="en-IN" dirty="0"/>
              <a:t>Moment Magnitude</a:t>
            </a:r>
          </a:p>
          <a:p>
            <a:pPr marL="342900" indent="-342900">
              <a:buAutoNum type="arabicPeriod"/>
            </a:pPr>
            <a:r>
              <a:rPr lang="en-IN" dirty="0"/>
              <a:t>Shear Modulus</a:t>
            </a:r>
          </a:p>
          <a:p>
            <a:pPr marL="342900" indent="-342900">
              <a:buAutoNum type="arabicPeriod"/>
            </a:pPr>
            <a:r>
              <a:rPr lang="en-IN" dirty="0"/>
              <a:t>Average Slip, Stress Drop</a:t>
            </a:r>
          </a:p>
          <a:p>
            <a:endParaRPr lang="en-IN" dirty="0"/>
          </a:p>
          <a:p>
            <a:r>
              <a:rPr lang="en-IN" dirty="0"/>
              <a:t>etc.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6A2F18E-AAFA-65A2-28F4-A24652A236D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011561" y="3280980"/>
            <a:ext cx="318073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AF4F50FD-09F5-3D39-7A89-28454C0B3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3914" y="1681725"/>
            <a:ext cx="3236814" cy="31985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49967D-81E4-B29D-84A5-4DA050BC2BF8}"/>
              </a:ext>
            </a:extLst>
          </p:cNvPr>
          <p:cNvSpPr txBox="1"/>
          <p:nvPr/>
        </p:nvSpPr>
        <p:spPr>
          <a:xfrm>
            <a:off x="4907526" y="2819314"/>
            <a:ext cx="1388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PREDICT</a:t>
            </a:r>
          </a:p>
        </p:txBody>
      </p:sp>
    </p:spTree>
    <p:extLst>
      <p:ext uri="{BB962C8B-B14F-4D97-AF65-F5344CB8AC3E}">
        <p14:creationId xmlns:p14="http://schemas.microsoft.com/office/powerpoint/2010/main" val="2958788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D590B-079B-899B-F2BC-107C7D737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7A62708-FE74-2BCD-3336-C550BFC07EA7}"/>
              </a:ext>
            </a:extLst>
          </p:cNvPr>
          <p:cNvSpPr/>
          <p:nvPr/>
        </p:nvSpPr>
        <p:spPr>
          <a:xfrm rot="5400000">
            <a:off x="-921825" y="3020343"/>
            <a:ext cx="2523281" cy="4076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C09C75-744C-FC75-A41F-FE35DC70315E}"/>
              </a:ext>
            </a:extLst>
          </p:cNvPr>
          <p:cNvCxnSpPr>
            <a:cxnSpLocks/>
          </p:cNvCxnSpPr>
          <p:nvPr/>
        </p:nvCxnSpPr>
        <p:spPr>
          <a:xfrm rot="5400000">
            <a:off x="338767" y="3944904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D02438-4D3D-D89F-1CCC-F2FAABB0B6FD}"/>
              </a:ext>
            </a:extLst>
          </p:cNvPr>
          <p:cNvCxnSpPr>
            <a:cxnSpLocks/>
          </p:cNvCxnSpPr>
          <p:nvPr/>
        </p:nvCxnSpPr>
        <p:spPr>
          <a:xfrm rot="5400000">
            <a:off x="338767" y="3513105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F02CC0-0AB5-9AFB-1635-599CF0201B0D}"/>
              </a:ext>
            </a:extLst>
          </p:cNvPr>
          <p:cNvCxnSpPr>
            <a:cxnSpLocks/>
          </p:cNvCxnSpPr>
          <p:nvPr/>
        </p:nvCxnSpPr>
        <p:spPr>
          <a:xfrm rot="5400000">
            <a:off x="342585" y="3020343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31E795-3330-307E-D68B-E8C590400EA7}"/>
              </a:ext>
            </a:extLst>
          </p:cNvPr>
          <p:cNvCxnSpPr>
            <a:cxnSpLocks/>
          </p:cNvCxnSpPr>
          <p:nvPr/>
        </p:nvCxnSpPr>
        <p:spPr>
          <a:xfrm rot="5400000">
            <a:off x="338768" y="2532664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7697B3-70D4-909C-B6F6-495D5C410047}"/>
              </a:ext>
            </a:extLst>
          </p:cNvPr>
          <p:cNvCxnSpPr>
            <a:cxnSpLocks/>
          </p:cNvCxnSpPr>
          <p:nvPr/>
        </p:nvCxnSpPr>
        <p:spPr>
          <a:xfrm rot="5400000">
            <a:off x="338767" y="2065304"/>
            <a:ext cx="0" cy="4076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C48B57C-B1E9-C0D9-7D28-18E380548968}"/>
              </a:ext>
            </a:extLst>
          </p:cNvPr>
          <p:cNvSpPr/>
          <p:nvPr/>
        </p:nvSpPr>
        <p:spPr>
          <a:xfrm>
            <a:off x="1061881" y="2035278"/>
            <a:ext cx="1876787" cy="23838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3E373BD9-ED45-9EE6-76C9-F2BF8DE0B131}"/>
              </a:ext>
            </a:extLst>
          </p:cNvPr>
          <p:cNvSpPr/>
          <p:nvPr/>
        </p:nvSpPr>
        <p:spPr>
          <a:xfrm rot="16200000">
            <a:off x="8299291" y="2386799"/>
            <a:ext cx="1828800" cy="1533211"/>
          </a:xfrm>
          <a:prstGeom prst="trapezoi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E31C4B-45E2-E0E7-A791-5712240A26AE}"/>
              </a:ext>
            </a:extLst>
          </p:cNvPr>
          <p:cNvSpPr/>
          <p:nvPr/>
        </p:nvSpPr>
        <p:spPr>
          <a:xfrm>
            <a:off x="3411791" y="4444181"/>
            <a:ext cx="1111045" cy="11405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DB57B6-372E-27DF-C31B-8A53BFE0D643}"/>
              </a:ext>
            </a:extLst>
          </p:cNvPr>
          <p:cNvSpPr/>
          <p:nvPr/>
        </p:nvSpPr>
        <p:spPr>
          <a:xfrm>
            <a:off x="6862916" y="4444181"/>
            <a:ext cx="1111045" cy="114054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8B64F59-18D3-E56B-7E6E-E522CFAA9574}"/>
              </a:ext>
            </a:extLst>
          </p:cNvPr>
          <p:cNvSpPr/>
          <p:nvPr/>
        </p:nvSpPr>
        <p:spPr>
          <a:xfrm>
            <a:off x="4262281" y="675640"/>
            <a:ext cx="3186242" cy="190041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CA6E93-5E4A-AF50-7913-5648550281F0}"/>
              </a:ext>
            </a:extLst>
          </p:cNvPr>
          <p:cNvSpPr/>
          <p:nvPr/>
        </p:nvSpPr>
        <p:spPr>
          <a:xfrm>
            <a:off x="4673719" y="1115568"/>
            <a:ext cx="284644" cy="1242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BD250F-2D18-F5F0-843D-AE82F35A1E93}"/>
              </a:ext>
            </a:extLst>
          </p:cNvPr>
          <p:cNvSpPr/>
          <p:nvPr/>
        </p:nvSpPr>
        <p:spPr>
          <a:xfrm>
            <a:off x="5085157" y="1115568"/>
            <a:ext cx="284644" cy="1242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D38905-7F82-2FDE-FF22-8504899E8BC9}"/>
              </a:ext>
            </a:extLst>
          </p:cNvPr>
          <p:cNvSpPr/>
          <p:nvPr/>
        </p:nvSpPr>
        <p:spPr>
          <a:xfrm>
            <a:off x="5496595" y="1115568"/>
            <a:ext cx="284644" cy="1242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0172B60-00CD-AF6E-993C-463A623D2463}"/>
              </a:ext>
            </a:extLst>
          </p:cNvPr>
          <p:cNvSpPr/>
          <p:nvPr/>
        </p:nvSpPr>
        <p:spPr>
          <a:xfrm>
            <a:off x="6374793" y="1115568"/>
            <a:ext cx="284644" cy="12429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78C9C4-2181-A89D-8829-F572D3F0126D}"/>
                  </a:ext>
                </a:extLst>
              </p:cNvPr>
              <p:cNvSpPr txBox="1"/>
              <p:nvPr/>
            </p:nvSpPr>
            <p:spPr>
              <a:xfrm>
                <a:off x="8815025" y="3026435"/>
                <a:ext cx="88992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𝑑𝑒𝑐𝑜𝑑𝑒𝑟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C78C9C4-2181-A89D-8829-F572D3F01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025" y="3026435"/>
                <a:ext cx="889924" cy="276999"/>
              </a:xfrm>
              <a:prstGeom prst="rect">
                <a:avLst/>
              </a:prstGeom>
              <a:blipFill>
                <a:blip r:embed="rId2"/>
                <a:stretch>
                  <a:fillRect l="-6164" r="-6164" b="-6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BF4CC54-82EE-FD73-D853-5F59BD79B42D}"/>
                  </a:ext>
                </a:extLst>
              </p:cNvPr>
              <p:cNvSpPr txBox="1"/>
              <p:nvPr/>
            </p:nvSpPr>
            <p:spPr>
              <a:xfrm>
                <a:off x="4715558" y="736842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BF4CC54-82EE-FD73-D853-5F59BD79B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5558" y="736842"/>
                <a:ext cx="170486" cy="276999"/>
              </a:xfrm>
              <a:prstGeom prst="rect">
                <a:avLst/>
              </a:prstGeom>
              <a:blipFill>
                <a:blip r:embed="rId3"/>
                <a:stretch>
                  <a:fillRect l="-35714" r="-50000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3A85D6-AEB0-E5E1-7977-2CE6C5343970}"/>
                  </a:ext>
                </a:extLst>
              </p:cNvPr>
              <p:cNvSpPr txBox="1"/>
              <p:nvPr/>
            </p:nvSpPr>
            <p:spPr>
              <a:xfrm>
                <a:off x="5142236" y="736841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3A85D6-AEB0-E5E1-7977-2CE6C5343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236" y="736841"/>
                <a:ext cx="170486" cy="276999"/>
              </a:xfrm>
              <a:prstGeom prst="rect">
                <a:avLst/>
              </a:prstGeom>
              <a:blipFill>
                <a:blip r:embed="rId4"/>
                <a:stretch>
                  <a:fillRect l="-35714" r="-53571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DE038D7-D55D-9CAF-47AC-C93E398D3AF9}"/>
                  </a:ext>
                </a:extLst>
              </p:cNvPr>
              <p:cNvSpPr txBox="1"/>
              <p:nvPr/>
            </p:nvSpPr>
            <p:spPr>
              <a:xfrm>
                <a:off x="5522388" y="736841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DE038D7-D55D-9CAF-47AC-C93E398D3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388" y="736841"/>
                <a:ext cx="170486" cy="276999"/>
              </a:xfrm>
              <a:prstGeom prst="rect">
                <a:avLst/>
              </a:prstGeom>
              <a:blipFill>
                <a:blip r:embed="rId5"/>
                <a:stretch>
                  <a:fillRect l="-35714" r="-53571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062782A-0BE3-0D7D-35E8-22A1B2FED9BB}"/>
                  </a:ext>
                </a:extLst>
              </p:cNvPr>
              <p:cNvSpPr txBox="1"/>
              <p:nvPr/>
            </p:nvSpPr>
            <p:spPr>
              <a:xfrm>
                <a:off x="6414465" y="742162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062782A-0BE3-0D7D-35E8-22A1B2FED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4465" y="742162"/>
                <a:ext cx="170486" cy="276999"/>
              </a:xfrm>
              <a:prstGeom prst="rect">
                <a:avLst/>
              </a:prstGeom>
              <a:blipFill>
                <a:blip r:embed="rId6"/>
                <a:stretch>
                  <a:fillRect l="-35714" r="-5714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2747CD10-BCDB-DE29-8E87-78EDE210CD0C}"/>
              </a:ext>
            </a:extLst>
          </p:cNvPr>
          <p:cNvSpPr txBox="1"/>
          <p:nvPr/>
        </p:nvSpPr>
        <p:spPr>
          <a:xfrm>
            <a:off x="5923683" y="1515592"/>
            <a:ext cx="45111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dirty="0"/>
              <a:t>……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EDC824-1CE5-9AF9-9B2F-8E60C5D55D5E}"/>
                  </a:ext>
                </a:extLst>
              </p:cNvPr>
              <p:cNvSpPr txBox="1"/>
              <p:nvPr/>
            </p:nvSpPr>
            <p:spPr>
              <a:xfrm>
                <a:off x="253524" y="1943133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FEDC824-1CE5-9AF9-9B2F-8E60C5D55D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24" y="1943133"/>
                <a:ext cx="170486" cy="276999"/>
              </a:xfrm>
              <a:prstGeom prst="rect">
                <a:avLst/>
              </a:prstGeom>
              <a:blipFill>
                <a:blip r:embed="rId7"/>
                <a:stretch>
                  <a:fillRect l="-35714" r="-57143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641D4BC-18D8-3AE1-F72C-106D2A052BB6}"/>
                  </a:ext>
                </a:extLst>
              </p:cNvPr>
              <p:cNvSpPr txBox="1"/>
              <p:nvPr/>
            </p:nvSpPr>
            <p:spPr>
              <a:xfrm>
                <a:off x="7295591" y="4764693"/>
                <a:ext cx="170486" cy="53040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641D4BC-18D8-3AE1-F72C-106D2A052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5591" y="4764693"/>
                <a:ext cx="170486" cy="530402"/>
              </a:xfrm>
              <a:prstGeom prst="rect">
                <a:avLst/>
              </a:prstGeom>
              <a:blipFill>
                <a:blip r:embed="rId8"/>
                <a:stretch>
                  <a:fillRect r="-103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F7358802-2C84-B83E-848E-F533D32F9E72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2938668" y="3227214"/>
            <a:ext cx="1029039" cy="1527666"/>
          </a:xfrm>
          <a:prstGeom prst="bentConnector2">
            <a:avLst/>
          </a:prstGeom>
          <a:ln w="19050">
            <a:solidFill>
              <a:schemeClr val="bg2">
                <a:lumMod val="50000"/>
              </a:schemeClr>
            </a:solidFill>
            <a:headEnd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5F4912AA-541D-7E4B-21C6-6D58BF90415C}"/>
              </a:ext>
            </a:extLst>
          </p:cNvPr>
          <p:cNvCxnSpPr>
            <a:stCxn id="14" idx="3"/>
          </p:cNvCxnSpPr>
          <p:nvPr/>
        </p:nvCxnSpPr>
        <p:spPr>
          <a:xfrm flipV="1">
            <a:off x="4522836" y="2389034"/>
            <a:ext cx="562321" cy="2625418"/>
          </a:xfrm>
          <a:prstGeom prst="bentConnector2">
            <a:avLst/>
          </a:prstGeom>
          <a:ln w="1905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8C1DB0E-5DC3-7C81-37F1-A332A50CE508}"/>
              </a:ext>
            </a:extLst>
          </p:cNvPr>
          <p:cNvCxnSpPr>
            <a:cxnSpLocks/>
            <a:endCxn id="15" idx="1"/>
          </p:cNvCxnSpPr>
          <p:nvPr/>
        </p:nvCxnSpPr>
        <p:spPr>
          <a:xfrm rot="16200000" flipH="1">
            <a:off x="5371565" y="3523100"/>
            <a:ext cx="2600633" cy="382070"/>
          </a:xfrm>
          <a:prstGeom prst="bentConnector2">
            <a:avLst/>
          </a:prstGeom>
          <a:ln w="1905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69F9BEF4-BFBD-BBF4-4D7C-68D50B99510D}"/>
              </a:ext>
            </a:extLst>
          </p:cNvPr>
          <p:cNvCxnSpPr>
            <a:cxnSpLocks/>
            <a:stCxn id="15" idx="3"/>
            <a:endCxn id="21" idx="1"/>
          </p:cNvCxnSpPr>
          <p:nvPr/>
        </p:nvCxnSpPr>
        <p:spPr>
          <a:xfrm flipV="1">
            <a:off x="7973961" y="3164935"/>
            <a:ext cx="841064" cy="1849517"/>
          </a:xfrm>
          <a:prstGeom prst="bentConnector3">
            <a:avLst>
              <a:gd name="adj1" fmla="val 50000"/>
            </a:avLst>
          </a:prstGeom>
          <a:ln w="1905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6F574F4-4ED7-301E-C28C-CAB369E21262}"/>
              </a:ext>
            </a:extLst>
          </p:cNvPr>
          <p:cNvCxnSpPr>
            <a:cxnSpLocks/>
            <a:stCxn id="13" idx="2"/>
            <a:endCxn id="77" idx="1"/>
          </p:cNvCxnSpPr>
          <p:nvPr/>
        </p:nvCxnSpPr>
        <p:spPr>
          <a:xfrm flipV="1">
            <a:off x="9980297" y="3150674"/>
            <a:ext cx="300472" cy="2731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5C948B-7DF2-D265-910E-92B293ABBDAC}"/>
                  </a:ext>
                </a:extLst>
              </p:cNvPr>
              <p:cNvSpPr txBox="1"/>
              <p:nvPr/>
            </p:nvSpPr>
            <p:spPr>
              <a:xfrm>
                <a:off x="4849568" y="358114"/>
                <a:ext cx="185730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𝑒𝑚𝑏𝑒𝑑𝑑𝑖𝑛𝑔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𝑠𝑝𝑎𝑐𝑒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85C948B-7DF2-D265-910E-92B293ABB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568" y="358114"/>
                <a:ext cx="1857303" cy="276999"/>
              </a:xfrm>
              <a:prstGeom prst="rect">
                <a:avLst/>
              </a:prstGeom>
              <a:blipFill>
                <a:blip r:embed="rId9"/>
                <a:stretch>
                  <a:fillRect l="-3947" t="-4444" r="-2961" b="-3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2E4A891-DCB4-3EDA-5E6F-B12E1360594F}"/>
                  </a:ext>
                </a:extLst>
              </p:cNvPr>
              <p:cNvSpPr txBox="1"/>
              <p:nvPr/>
            </p:nvSpPr>
            <p:spPr>
              <a:xfrm>
                <a:off x="10437855" y="4141589"/>
                <a:ext cx="162339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𝑝𝑟𝑒𝑑𝑖𝑐𝑡𝑒𝑑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𝑖𝑚𝑎𝑔𝑒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2E4A891-DCB4-3EDA-5E6F-B12E13605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7855" y="4141589"/>
                <a:ext cx="1623393" cy="276999"/>
              </a:xfrm>
              <a:prstGeom prst="rect">
                <a:avLst/>
              </a:prstGeom>
              <a:blipFill>
                <a:blip r:embed="rId10"/>
                <a:stretch>
                  <a:fillRect l="-6742" t="-2174" r="-11236" b="-326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ight Brace 35">
            <a:extLst>
              <a:ext uri="{FF2B5EF4-FFF2-40B4-BE49-F238E27FC236}">
                <a16:creationId xmlns:a16="http://schemas.microsoft.com/office/drawing/2014/main" id="{6844A4C8-50FE-5F5C-637A-4C75C12F5CA2}"/>
              </a:ext>
            </a:extLst>
          </p:cNvPr>
          <p:cNvSpPr/>
          <p:nvPr/>
        </p:nvSpPr>
        <p:spPr>
          <a:xfrm>
            <a:off x="6720594" y="1115568"/>
            <a:ext cx="284644" cy="1242986"/>
          </a:xfrm>
          <a:prstGeom prst="rightBrace">
            <a:avLst>
              <a:gd name="adj1" fmla="val 48772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942F138-B5AF-FDEF-7108-108823E36039}"/>
                  </a:ext>
                </a:extLst>
              </p:cNvPr>
              <p:cNvSpPr txBox="1"/>
              <p:nvPr/>
            </p:nvSpPr>
            <p:spPr>
              <a:xfrm>
                <a:off x="7110547" y="1598561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942F138-B5AF-FDEF-7108-108823E36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0547" y="1598561"/>
                <a:ext cx="170486" cy="276999"/>
              </a:xfrm>
              <a:prstGeom prst="rect">
                <a:avLst/>
              </a:prstGeom>
              <a:blipFill>
                <a:blip r:embed="rId11"/>
                <a:stretch>
                  <a:fillRect l="-46429" r="-42857" b="-6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8EA0D3C1-15E0-65B0-E8CB-B7A2FC2E4706}"/>
              </a:ext>
            </a:extLst>
          </p:cNvPr>
          <p:cNvSpPr/>
          <p:nvPr/>
        </p:nvSpPr>
        <p:spPr>
          <a:xfrm>
            <a:off x="1204695" y="2495550"/>
            <a:ext cx="240030" cy="2438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C0C4CEB-6D64-BC2D-5934-4A9672B48946}"/>
              </a:ext>
            </a:extLst>
          </p:cNvPr>
          <p:cNvSpPr/>
          <p:nvPr/>
        </p:nvSpPr>
        <p:spPr>
          <a:xfrm>
            <a:off x="1204695" y="2891790"/>
            <a:ext cx="240030" cy="2438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B234850-DC15-DD4A-51A5-38386521BC84}"/>
              </a:ext>
            </a:extLst>
          </p:cNvPr>
          <p:cNvSpPr/>
          <p:nvPr/>
        </p:nvSpPr>
        <p:spPr>
          <a:xfrm>
            <a:off x="1204695" y="3288030"/>
            <a:ext cx="240030" cy="2438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3900246-5C7B-D672-8E32-56ED6696E584}"/>
              </a:ext>
            </a:extLst>
          </p:cNvPr>
          <p:cNvSpPr/>
          <p:nvPr/>
        </p:nvSpPr>
        <p:spPr>
          <a:xfrm>
            <a:off x="1211143" y="3945885"/>
            <a:ext cx="240030" cy="2438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C80E3CA-DCCF-5024-1F7D-AAB672EEA434}"/>
              </a:ext>
            </a:extLst>
          </p:cNvPr>
          <p:cNvSpPr/>
          <p:nvPr/>
        </p:nvSpPr>
        <p:spPr>
          <a:xfrm>
            <a:off x="1924579" y="2495550"/>
            <a:ext cx="240030" cy="2438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A873255-85B2-DD61-AB56-7EB3562BF861}"/>
              </a:ext>
            </a:extLst>
          </p:cNvPr>
          <p:cNvSpPr/>
          <p:nvPr/>
        </p:nvSpPr>
        <p:spPr>
          <a:xfrm>
            <a:off x="1924579" y="2891790"/>
            <a:ext cx="240030" cy="2438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BF4DCAF-1D4B-3337-C32F-B5B309435978}"/>
              </a:ext>
            </a:extLst>
          </p:cNvPr>
          <p:cNvSpPr/>
          <p:nvPr/>
        </p:nvSpPr>
        <p:spPr>
          <a:xfrm>
            <a:off x="1915005" y="3288030"/>
            <a:ext cx="240030" cy="2438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FFF72CA-4775-8866-9B60-E97B6B031195}"/>
              </a:ext>
            </a:extLst>
          </p:cNvPr>
          <p:cNvSpPr/>
          <p:nvPr/>
        </p:nvSpPr>
        <p:spPr>
          <a:xfrm>
            <a:off x="2587074" y="3146461"/>
            <a:ext cx="240030" cy="2438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5821D95-FD8B-ECA8-90E9-115B3B02AA79}"/>
              </a:ext>
            </a:extLst>
          </p:cNvPr>
          <p:cNvSpPr/>
          <p:nvPr/>
        </p:nvSpPr>
        <p:spPr>
          <a:xfrm>
            <a:off x="1915005" y="3944610"/>
            <a:ext cx="240030" cy="2438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403937-B2E2-8C8F-0225-A47D5AAB67C8}"/>
              </a:ext>
            </a:extLst>
          </p:cNvPr>
          <p:cNvSpPr txBox="1"/>
          <p:nvPr/>
        </p:nvSpPr>
        <p:spPr>
          <a:xfrm rot="5400000">
            <a:off x="1274279" y="3644939"/>
            <a:ext cx="23687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dirty="0"/>
              <a:t>…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16AF0F-7AC4-C422-2B38-3633F9D180C4}"/>
              </a:ext>
            </a:extLst>
          </p:cNvPr>
          <p:cNvSpPr txBox="1"/>
          <p:nvPr/>
        </p:nvSpPr>
        <p:spPr>
          <a:xfrm rot="5400000">
            <a:off x="1972123" y="3640366"/>
            <a:ext cx="23687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dirty="0"/>
              <a:t>…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712AF2B-2631-ABD7-D623-747B0CB2FD7F}"/>
              </a:ext>
            </a:extLst>
          </p:cNvPr>
          <p:cNvCxnSpPr>
            <a:cxnSpLocks/>
            <a:endCxn id="42" idx="2"/>
          </p:cNvCxnSpPr>
          <p:nvPr/>
        </p:nvCxnSpPr>
        <p:spPr>
          <a:xfrm flipV="1">
            <a:off x="1451173" y="2617470"/>
            <a:ext cx="473406" cy="38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35D1F54-16CF-7A44-A0CF-F8ACCA2952D6}"/>
              </a:ext>
            </a:extLst>
          </p:cNvPr>
          <p:cNvCxnSpPr>
            <a:cxnSpLocks/>
            <a:stCxn id="39" idx="6"/>
            <a:endCxn id="43" idx="2"/>
          </p:cNvCxnSpPr>
          <p:nvPr/>
        </p:nvCxnSpPr>
        <p:spPr>
          <a:xfrm>
            <a:off x="1444725" y="3013710"/>
            <a:ext cx="4798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086722F-334E-1038-A79A-3D3BC6FEF837}"/>
              </a:ext>
            </a:extLst>
          </p:cNvPr>
          <p:cNvCxnSpPr>
            <a:cxnSpLocks/>
          </p:cNvCxnSpPr>
          <p:nvPr/>
        </p:nvCxnSpPr>
        <p:spPr>
          <a:xfrm>
            <a:off x="1438277" y="3409950"/>
            <a:ext cx="4798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AB61799-60D8-F821-A0A7-1E4E72719E3F}"/>
              </a:ext>
            </a:extLst>
          </p:cNvPr>
          <p:cNvCxnSpPr>
            <a:cxnSpLocks/>
            <a:stCxn id="41" idx="6"/>
            <a:endCxn id="46" idx="2"/>
          </p:cNvCxnSpPr>
          <p:nvPr/>
        </p:nvCxnSpPr>
        <p:spPr>
          <a:xfrm flipV="1">
            <a:off x="1451173" y="4066530"/>
            <a:ext cx="463832" cy="1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1A1AD9A-B481-0E39-C185-66EF979EEFE4}"/>
              </a:ext>
            </a:extLst>
          </p:cNvPr>
          <p:cNvCxnSpPr>
            <a:cxnSpLocks/>
            <a:stCxn id="41" idx="6"/>
          </p:cNvCxnSpPr>
          <p:nvPr/>
        </p:nvCxnSpPr>
        <p:spPr>
          <a:xfrm flipV="1">
            <a:off x="1451173" y="3406141"/>
            <a:ext cx="463832" cy="661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3500580-D363-8828-A591-CB839C9E0069}"/>
              </a:ext>
            </a:extLst>
          </p:cNvPr>
          <p:cNvCxnSpPr>
            <a:cxnSpLocks/>
            <a:stCxn id="41" idx="6"/>
            <a:endCxn id="43" idx="2"/>
          </p:cNvCxnSpPr>
          <p:nvPr/>
        </p:nvCxnSpPr>
        <p:spPr>
          <a:xfrm flipV="1">
            <a:off x="1451173" y="3013710"/>
            <a:ext cx="473406" cy="1054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B52498E-3A8D-48C4-44F6-5B300999B89C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 flipV="1">
            <a:off x="1451173" y="2617470"/>
            <a:ext cx="473406" cy="1450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1B1F495-6C00-7350-7BF5-61A0895968D4}"/>
              </a:ext>
            </a:extLst>
          </p:cNvPr>
          <p:cNvCxnSpPr>
            <a:cxnSpLocks/>
            <a:stCxn id="38" idx="6"/>
          </p:cNvCxnSpPr>
          <p:nvPr/>
        </p:nvCxnSpPr>
        <p:spPr>
          <a:xfrm>
            <a:off x="1444725" y="2617470"/>
            <a:ext cx="473124" cy="441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264492C-AE56-A473-6886-C787A0408330}"/>
              </a:ext>
            </a:extLst>
          </p:cNvPr>
          <p:cNvCxnSpPr>
            <a:cxnSpLocks/>
            <a:endCxn id="44" idx="2"/>
          </p:cNvCxnSpPr>
          <p:nvPr/>
        </p:nvCxnSpPr>
        <p:spPr>
          <a:xfrm>
            <a:off x="1438277" y="2617470"/>
            <a:ext cx="476728" cy="7924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04D842D-CBB3-0AD3-6A3F-9AB396317D8E}"/>
              </a:ext>
            </a:extLst>
          </p:cNvPr>
          <p:cNvCxnSpPr>
            <a:cxnSpLocks/>
          </p:cNvCxnSpPr>
          <p:nvPr/>
        </p:nvCxnSpPr>
        <p:spPr>
          <a:xfrm>
            <a:off x="1431829" y="2617470"/>
            <a:ext cx="472376" cy="1446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8C715DA-3E0F-9F08-82AB-2D9490D98DA7}"/>
              </a:ext>
            </a:extLst>
          </p:cNvPr>
          <p:cNvCxnSpPr>
            <a:cxnSpLocks/>
            <a:stCxn id="39" idx="6"/>
            <a:endCxn id="42" idx="2"/>
          </p:cNvCxnSpPr>
          <p:nvPr/>
        </p:nvCxnSpPr>
        <p:spPr>
          <a:xfrm flipV="1">
            <a:off x="1444725" y="2617470"/>
            <a:ext cx="479854" cy="39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EF251321-7EF4-0916-44F1-64EBAA95D5EE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1457621" y="3013710"/>
            <a:ext cx="4669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480BF50-8ECB-1424-A740-D981F5CB28F7}"/>
              </a:ext>
            </a:extLst>
          </p:cNvPr>
          <p:cNvCxnSpPr>
            <a:cxnSpLocks/>
          </p:cNvCxnSpPr>
          <p:nvPr/>
        </p:nvCxnSpPr>
        <p:spPr>
          <a:xfrm>
            <a:off x="1457621" y="3026435"/>
            <a:ext cx="479854" cy="383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0E2409B-FF28-AD8D-F27C-72766A2C34F3}"/>
              </a:ext>
            </a:extLst>
          </p:cNvPr>
          <p:cNvCxnSpPr>
            <a:cxnSpLocks/>
            <a:stCxn id="39" idx="6"/>
            <a:endCxn id="46" idx="2"/>
          </p:cNvCxnSpPr>
          <p:nvPr/>
        </p:nvCxnSpPr>
        <p:spPr>
          <a:xfrm>
            <a:off x="1444725" y="3013710"/>
            <a:ext cx="470280" cy="1052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E0F9936-8C10-BB40-C1FD-9BAADB3447C8}"/>
              </a:ext>
            </a:extLst>
          </p:cNvPr>
          <p:cNvCxnSpPr>
            <a:cxnSpLocks/>
            <a:stCxn id="40" idx="6"/>
          </p:cNvCxnSpPr>
          <p:nvPr/>
        </p:nvCxnSpPr>
        <p:spPr>
          <a:xfrm>
            <a:off x="1444725" y="3409950"/>
            <a:ext cx="457384" cy="643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E7BACA4-B017-9FCC-94EF-F022FB0C5882}"/>
              </a:ext>
            </a:extLst>
          </p:cNvPr>
          <p:cNvCxnSpPr>
            <a:cxnSpLocks/>
            <a:stCxn id="40" idx="6"/>
            <a:endCxn id="43" idx="2"/>
          </p:cNvCxnSpPr>
          <p:nvPr/>
        </p:nvCxnSpPr>
        <p:spPr>
          <a:xfrm flipV="1">
            <a:off x="1444725" y="3013710"/>
            <a:ext cx="479854" cy="396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A6777F7-85B0-A37E-5F6C-530966CD4AC5}"/>
              </a:ext>
            </a:extLst>
          </p:cNvPr>
          <p:cNvCxnSpPr>
            <a:cxnSpLocks/>
            <a:endCxn id="42" idx="2"/>
          </p:cNvCxnSpPr>
          <p:nvPr/>
        </p:nvCxnSpPr>
        <p:spPr>
          <a:xfrm flipV="1">
            <a:off x="1451173" y="2617470"/>
            <a:ext cx="473406" cy="788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8F649EA-B981-F585-1E21-8C927812266B}"/>
              </a:ext>
            </a:extLst>
          </p:cNvPr>
          <p:cNvCxnSpPr>
            <a:cxnSpLocks/>
            <a:stCxn id="42" idx="6"/>
            <a:endCxn id="45" idx="2"/>
          </p:cNvCxnSpPr>
          <p:nvPr/>
        </p:nvCxnSpPr>
        <p:spPr>
          <a:xfrm>
            <a:off x="2164609" y="2617470"/>
            <a:ext cx="422465" cy="650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A737FEF-97B0-72AA-EAE8-D4B897CDECD3}"/>
              </a:ext>
            </a:extLst>
          </p:cNvPr>
          <p:cNvCxnSpPr>
            <a:cxnSpLocks/>
            <a:stCxn id="43" idx="6"/>
            <a:endCxn id="45" idx="2"/>
          </p:cNvCxnSpPr>
          <p:nvPr/>
        </p:nvCxnSpPr>
        <p:spPr>
          <a:xfrm>
            <a:off x="2164609" y="3013710"/>
            <a:ext cx="422465" cy="2546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FFDDE9C5-6C16-0684-6555-AA55E9B97AC3}"/>
              </a:ext>
            </a:extLst>
          </p:cNvPr>
          <p:cNvCxnSpPr>
            <a:cxnSpLocks/>
            <a:stCxn id="44" idx="6"/>
            <a:endCxn id="45" idx="2"/>
          </p:cNvCxnSpPr>
          <p:nvPr/>
        </p:nvCxnSpPr>
        <p:spPr>
          <a:xfrm flipV="1">
            <a:off x="2155035" y="3268381"/>
            <a:ext cx="432039" cy="1415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C53BC486-89E7-CE9C-DCA3-1CF1501AB584}"/>
              </a:ext>
            </a:extLst>
          </p:cNvPr>
          <p:cNvCxnSpPr>
            <a:cxnSpLocks/>
            <a:stCxn id="46" idx="6"/>
            <a:endCxn id="45" idx="2"/>
          </p:cNvCxnSpPr>
          <p:nvPr/>
        </p:nvCxnSpPr>
        <p:spPr>
          <a:xfrm flipV="1">
            <a:off x="2155035" y="3268381"/>
            <a:ext cx="432039" cy="798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0FA9124-C1DF-3881-D5A2-4D3BE9C3646F}"/>
                  </a:ext>
                </a:extLst>
              </p:cNvPr>
              <p:cNvSpPr txBox="1"/>
              <p:nvPr/>
            </p:nvSpPr>
            <p:spPr>
              <a:xfrm>
                <a:off x="1670086" y="2096710"/>
                <a:ext cx="56573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𝐹𝐹𝑁</m:t>
                      </m:r>
                    </m:oMath>
                  </m:oMathPara>
                </a14:m>
                <a:endParaRPr lang="en-IN" sz="2000" dirty="0"/>
              </a:p>
            </p:txBody>
          </p:sp>
        </mc:Choice>
        <mc:Fallback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50FA9124-C1DF-3881-D5A2-4D3BE9C36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086" y="2096710"/>
                <a:ext cx="565732" cy="307777"/>
              </a:xfrm>
              <a:prstGeom prst="rect">
                <a:avLst/>
              </a:prstGeom>
              <a:blipFill>
                <a:blip r:embed="rId12"/>
                <a:stretch>
                  <a:fillRect l="-10753" r="-9677" b="-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8A663B7-2A32-1CC4-DB6F-3ED7DA90113B}"/>
                  </a:ext>
                </a:extLst>
              </p:cNvPr>
              <p:cNvSpPr txBox="1"/>
              <p:nvPr/>
            </p:nvSpPr>
            <p:spPr>
              <a:xfrm>
                <a:off x="-60085" y="4554219"/>
                <a:ext cx="774636" cy="2770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𝐼𝑛𝑝𝑢𝑡</m:t>
                      </m:r>
                    </m:oMath>
                  </m:oMathPara>
                </a14:m>
                <a:br>
                  <a:rPr lang="en-IN" b="0" i="1" dirty="0">
                    <a:latin typeface="Cambria Math" panose="02040503050406030204" pitchFamily="18" charset="0"/>
                  </a:rPr>
                </a:br>
                <a:endParaRPr lang="en-IN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98A663B7-2A32-1CC4-DB6F-3ED7DA901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0085" y="4554219"/>
                <a:ext cx="774636" cy="277064"/>
              </a:xfrm>
              <a:prstGeom prst="rect">
                <a:avLst/>
              </a:prstGeom>
              <a:blipFill>
                <a:blip r:embed="rId13"/>
                <a:stretch>
                  <a:fillRect l="-787" r="-787" b="-3478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7613587-3E67-C844-8DF1-6A308E79399C}"/>
                  </a:ext>
                </a:extLst>
              </p:cNvPr>
              <p:cNvSpPr txBox="1"/>
              <p:nvPr/>
            </p:nvSpPr>
            <p:spPr>
              <a:xfrm>
                <a:off x="241990" y="2346701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7613587-3E67-C844-8DF1-6A308E7939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90" y="2346701"/>
                <a:ext cx="170486" cy="276999"/>
              </a:xfrm>
              <a:prstGeom prst="rect">
                <a:avLst/>
              </a:prstGeom>
              <a:blipFill>
                <a:blip r:embed="rId14"/>
                <a:stretch>
                  <a:fillRect l="-35714" r="-60714" b="-1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E79ECE1-ECE6-9CA5-8CAD-358F1960F525}"/>
                  </a:ext>
                </a:extLst>
              </p:cNvPr>
              <p:cNvSpPr txBox="1"/>
              <p:nvPr/>
            </p:nvSpPr>
            <p:spPr>
              <a:xfrm>
                <a:off x="235542" y="2811217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AE79ECE1-ECE6-9CA5-8CAD-358F1960F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42" y="2811217"/>
                <a:ext cx="170486" cy="276999"/>
              </a:xfrm>
              <a:prstGeom prst="rect">
                <a:avLst/>
              </a:prstGeom>
              <a:blipFill>
                <a:blip r:embed="rId15"/>
                <a:stretch>
                  <a:fillRect l="-35714" r="-60714" b="-13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E15BB0B-E71F-544F-1EBE-C1B793AE28CD}"/>
                  </a:ext>
                </a:extLst>
              </p:cNvPr>
              <p:cNvSpPr txBox="1"/>
              <p:nvPr/>
            </p:nvSpPr>
            <p:spPr>
              <a:xfrm>
                <a:off x="229094" y="3275733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7E15BB0B-E71F-544F-1EBE-C1B793AE2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094" y="3275733"/>
                <a:ext cx="170486" cy="276999"/>
              </a:xfrm>
              <a:prstGeom prst="rect">
                <a:avLst/>
              </a:prstGeom>
              <a:blipFill>
                <a:blip r:embed="rId16"/>
                <a:stretch>
                  <a:fillRect l="-35714" r="-60714" b="-130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00DC59F-2417-B271-A138-8962916C97EA}"/>
                  </a:ext>
                </a:extLst>
              </p:cNvPr>
              <p:cNvSpPr txBox="1"/>
              <p:nvPr/>
            </p:nvSpPr>
            <p:spPr>
              <a:xfrm>
                <a:off x="247405" y="4141588"/>
                <a:ext cx="17048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35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00DC59F-2417-B271-A138-8962916C9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05" y="4141588"/>
                <a:ext cx="170486" cy="276999"/>
              </a:xfrm>
              <a:prstGeom prst="rect">
                <a:avLst/>
              </a:prstGeom>
              <a:blipFill>
                <a:blip r:embed="rId17"/>
                <a:stretch>
                  <a:fillRect l="-35714" r="-117857" b="-15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>
            <a:extLst>
              <a:ext uri="{FF2B5EF4-FFF2-40B4-BE49-F238E27FC236}">
                <a16:creationId xmlns:a16="http://schemas.microsoft.com/office/drawing/2014/main" id="{AD58124A-EAAB-653A-D269-4480BE745596}"/>
              </a:ext>
            </a:extLst>
          </p:cNvPr>
          <p:cNvSpPr txBox="1"/>
          <p:nvPr/>
        </p:nvSpPr>
        <p:spPr>
          <a:xfrm rot="5400000">
            <a:off x="262054" y="3823396"/>
            <a:ext cx="23687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dirty="0"/>
              <a:t>…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95A36022-7109-D63D-49FC-641B470A54D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90" t="15125" r="51554" b="12639"/>
          <a:stretch/>
        </p:blipFill>
        <p:spPr>
          <a:xfrm>
            <a:off x="10280769" y="2200468"/>
            <a:ext cx="1907647" cy="19004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DCD3082-DC79-7B3E-097D-E60AAF15252A}"/>
                  </a:ext>
                </a:extLst>
              </p:cNvPr>
              <p:cNvSpPr txBox="1"/>
              <p:nvPr/>
            </p:nvSpPr>
            <p:spPr>
              <a:xfrm>
                <a:off x="3855454" y="4766436"/>
                <a:ext cx="17048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3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IN" sz="3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IN" sz="3200" dirty="0"/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7DCD3082-DC79-7B3E-097D-E60AAF1525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5454" y="4766436"/>
                <a:ext cx="170486" cy="492443"/>
              </a:xfrm>
              <a:prstGeom prst="rect">
                <a:avLst/>
              </a:prstGeom>
              <a:blipFill>
                <a:blip r:embed="rId19"/>
                <a:stretch>
                  <a:fillRect r="-964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E33BD804-2ACB-861F-40E5-68C942AF1DBF}"/>
              </a:ext>
            </a:extLst>
          </p:cNvPr>
          <p:cNvCxnSpPr>
            <a:cxnSpLocks/>
            <a:stCxn id="3" idx="0"/>
            <a:endCxn id="12" idx="1"/>
          </p:cNvCxnSpPr>
          <p:nvPr/>
        </p:nvCxnSpPr>
        <p:spPr>
          <a:xfrm>
            <a:off x="543647" y="3224175"/>
            <a:ext cx="518234" cy="3039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850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15377-3D45-432A-7A98-D50BF057D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9EE1D6-0E49-1D23-1002-590D27AFA3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538" y="772813"/>
            <a:ext cx="7832924" cy="531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405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FD6CA-1AAC-3134-805A-484602557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C95A0E0E-03C9-8E1D-0801-B27F5BEF8C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685794"/>
            <a:ext cx="10972822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366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4D3CD-AA44-C627-3E12-114B51EBA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CB13D2-6F5D-5DD6-1A27-3B49B479E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685794"/>
            <a:ext cx="10972822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093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6AF11-49B4-ACAD-BDFB-6FE81529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91023E5-D873-0383-4040-5C03E7555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685794"/>
            <a:ext cx="10972822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247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38E04-F1F4-4EA4-A62F-0D6F83EBB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4A87B3-5DEA-A6F7-9271-63BC9FCA5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685794"/>
            <a:ext cx="10972822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542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9F321-F761-B410-8471-C26381BB2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FAE24C-7A3B-ABCA-CC61-0DECE43ED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685794"/>
            <a:ext cx="10972822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25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FA08C-E1E6-099F-731F-C617BE864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DAC68A-0B01-FE23-FFC0-6B8706AAA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89" y="685794"/>
            <a:ext cx="10972822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029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85FE0-956A-8D82-4293-FA17FA59F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F6855D-6459-EB69-16A6-A7F2CE1CFD85}"/>
              </a:ext>
            </a:extLst>
          </p:cNvPr>
          <p:cNvSpPr/>
          <p:nvPr/>
        </p:nvSpPr>
        <p:spPr>
          <a:xfrm>
            <a:off x="717755" y="422787"/>
            <a:ext cx="10864645" cy="5624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EE136-CCB5-7A87-D8E2-C12A39102308}"/>
              </a:ext>
            </a:extLst>
          </p:cNvPr>
          <p:cNvSpPr txBox="1"/>
          <p:nvPr/>
        </p:nvSpPr>
        <p:spPr>
          <a:xfrm>
            <a:off x="609600" y="1249654"/>
            <a:ext cx="340196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Things to do – </a:t>
            </a:r>
          </a:p>
          <a:p>
            <a:endParaRPr lang="en-IN" dirty="0"/>
          </a:p>
          <a:p>
            <a:r>
              <a:rPr lang="en-IN" dirty="0"/>
              <a:t>Using </a:t>
            </a:r>
            <a:r>
              <a:rPr lang="en-IN" b="1" dirty="0"/>
              <a:t>35</a:t>
            </a:r>
            <a:r>
              <a:rPr lang="en-IN" dirty="0"/>
              <a:t> input parameters – </a:t>
            </a:r>
          </a:p>
          <a:p>
            <a:pPr marL="342900" indent="-342900">
              <a:buAutoNum type="arabicPeriod"/>
            </a:pPr>
            <a:r>
              <a:rPr lang="en-IN" dirty="0"/>
              <a:t>Magnitude of the earthquake</a:t>
            </a:r>
          </a:p>
          <a:p>
            <a:pPr marL="342900" indent="-342900">
              <a:buAutoNum type="arabicPeriod"/>
            </a:pPr>
            <a:r>
              <a:rPr lang="en-IN" dirty="0"/>
              <a:t>Lat and Long of the </a:t>
            </a:r>
            <a:r>
              <a:rPr lang="en-IN" dirty="0" err="1"/>
              <a:t>epicenter</a:t>
            </a: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Fault Dip, Rake and Strike</a:t>
            </a:r>
          </a:p>
          <a:p>
            <a:pPr marL="342900" indent="-342900">
              <a:buAutoNum type="arabicPeriod"/>
            </a:pPr>
            <a:r>
              <a:rPr lang="en-IN" dirty="0"/>
              <a:t>Depth to the </a:t>
            </a:r>
            <a:r>
              <a:rPr lang="en-IN" dirty="0" err="1"/>
              <a:t>hypocenter</a:t>
            </a:r>
            <a:r>
              <a:rPr lang="en-IN" dirty="0"/>
              <a:t>.</a:t>
            </a:r>
          </a:p>
          <a:p>
            <a:pPr marL="342900" indent="-342900">
              <a:buAutoNum type="arabicPeriod"/>
            </a:pPr>
            <a:r>
              <a:rPr lang="en-IN" dirty="0" err="1"/>
              <a:t>Seismogenic</a:t>
            </a:r>
            <a:r>
              <a:rPr lang="en-IN" dirty="0"/>
              <a:t> width</a:t>
            </a:r>
          </a:p>
          <a:p>
            <a:pPr marL="342900" indent="-342900">
              <a:buAutoNum type="arabicPeriod"/>
            </a:pPr>
            <a:r>
              <a:rPr lang="en-IN" dirty="0"/>
              <a:t>Rupture Area</a:t>
            </a:r>
          </a:p>
          <a:p>
            <a:pPr marL="342900" indent="-342900">
              <a:buAutoNum type="arabicPeriod"/>
            </a:pPr>
            <a:r>
              <a:rPr lang="en-IN" dirty="0"/>
              <a:t>Moment Magnitude</a:t>
            </a:r>
          </a:p>
          <a:p>
            <a:pPr marL="342900" indent="-342900">
              <a:buAutoNum type="arabicPeriod"/>
            </a:pPr>
            <a:r>
              <a:rPr lang="en-IN" dirty="0"/>
              <a:t>Shear Modulus</a:t>
            </a:r>
          </a:p>
          <a:p>
            <a:pPr marL="342900" indent="-342900">
              <a:buAutoNum type="arabicPeriod"/>
            </a:pPr>
            <a:r>
              <a:rPr lang="en-IN" dirty="0"/>
              <a:t>Average Slip, Stress Drop</a:t>
            </a:r>
          </a:p>
          <a:p>
            <a:endParaRPr lang="en-IN" dirty="0"/>
          </a:p>
          <a:p>
            <a:r>
              <a:rPr lang="en-IN" dirty="0"/>
              <a:t>etc.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D6B7B0A-862F-DD4A-D895-931CE63ED6EF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011561" y="3280980"/>
            <a:ext cx="318073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E895755-2788-C039-F1EE-C3B8F56D8F50}"/>
              </a:ext>
            </a:extLst>
          </p:cNvPr>
          <p:cNvSpPr txBox="1"/>
          <p:nvPr/>
        </p:nvSpPr>
        <p:spPr>
          <a:xfrm>
            <a:off x="4907526" y="2819314"/>
            <a:ext cx="1388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Improve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E024E6-2565-6252-ACCD-8CE82DDD7A3D}"/>
              </a:ext>
            </a:extLst>
          </p:cNvPr>
          <p:cNvSpPr txBox="1"/>
          <p:nvPr/>
        </p:nvSpPr>
        <p:spPr>
          <a:xfrm>
            <a:off x="7929717" y="1249654"/>
            <a:ext cx="340196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Future Work– </a:t>
            </a:r>
          </a:p>
          <a:p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Reduce the number of params to 5-10.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Conduct an ablation and sensitivity analysis on the input parameters.</a:t>
            </a:r>
          </a:p>
          <a:p>
            <a:pPr marL="342900" indent="-342900">
              <a:buAutoNum type="arabicPeriod"/>
            </a:pPr>
            <a:endParaRPr lang="en-IN" dirty="0"/>
          </a:p>
          <a:p>
            <a:pPr marL="342900" indent="-342900">
              <a:buAutoNum type="arabicPeriod"/>
            </a:pPr>
            <a:r>
              <a:rPr lang="en-IN" dirty="0"/>
              <a:t>Report the results and draft a paper.</a:t>
            </a:r>
          </a:p>
        </p:txBody>
      </p:sp>
    </p:spTree>
    <p:extLst>
      <p:ext uri="{BB962C8B-B14F-4D97-AF65-F5344CB8AC3E}">
        <p14:creationId xmlns:p14="http://schemas.microsoft.com/office/powerpoint/2010/main" val="3093293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CD162-B6F2-060E-B657-E1ACEDC6E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308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155</Words>
  <Application>Microsoft Office PowerPoint</Application>
  <PresentationFormat>Widescreen</PresentationFormat>
  <Paragraphs>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Slip Plane Modelling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Atmadip Goswami</dc:creator>
  <cp:lastModifiedBy>Atmadip Goswami</cp:lastModifiedBy>
  <cp:revision>1</cp:revision>
  <dcterms:created xsi:type="dcterms:W3CDTF">2025-08-12T10:34:17Z</dcterms:created>
  <dcterms:modified xsi:type="dcterms:W3CDTF">2025-08-12T11:19:51Z</dcterms:modified>
</cp:coreProperties>
</file>